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learners to describe what remains stable during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every symbol before reading the implication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implication direction explicit at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opening example and separate the hole from the nearby 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A"/>
          </a:solidFill>
          <a:ln w="12700">
            <a:solidFill>
              <a:srgbClr val="0C12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050" y="457200"/>
            <a:ext cx="800100" cy="47625"/>
          </a:xfrm>
          <a:prstGeom prst="rect">
            <a:avLst/>
          </a:prstGeom>
          <a:solidFill>
            <a:srgbClr val="35C8FF"/>
          </a:solidFill>
          <a:ln w="12700">
            <a:solidFill>
              <a:srgbClr val="35C8FF">
                <a:alpha val="0"/>
              </a:srgbClr>
            </a:solidFill>
            <a:prstDash val="solid"/>
          </a:ln>
        </p:spPr>
      </p:sp>
      <p:sp>
        <p:nvSpPr>
          <p:cNvPr id="4" name="lesson-slide-index"/>
          <p:cNvSpPr/>
          <p:nvPr/>
        </p:nvSpPr>
        <p:spPr>
          <a:xfrm>
            <a:off x="11239500" y="285750"/>
            <a:ext cx="552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lesson-deck-title"/>
          <p:cNvSpPr/>
          <p:nvPr/>
        </p:nvSpPr>
        <p:spPr>
          <a:xfrm>
            <a:off x="781050" y="628650"/>
            <a:ext cx="10287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function can approach a value it never reaches</a:t>
            </a:r>
            <a:endParaRPr lang="en-US" sz="5400" dirty="0"/>
          </a:p>
        </p:txBody>
      </p:sp>
      <p:sp>
        <p:nvSpPr>
          <p:cNvPr id="6" name="lesson-subheading"/>
          <p:cNvSpPr/>
          <p:nvPr/>
        </p:nvSpPr>
        <p:spPr>
          <a:xfrm>
            <a:off x="781050" y="2476500"/>
            <a:ext cx="10287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35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Nearness, not arrival, is the phenomenon we need to describe.</a:t>
            </a:r>
            <a:endParaRPr lang="en-US" sz="2400" dirty="0"/>
          </a:p>
        </p:txBody>
      </p:sp>
      <p:sp>
        <p:nvSpPr>
          <p:cNvPr id="7" name="lesson-body"/>
          <p:cNvSpPr/>
          <p:nvPr/>
        </p:nvSpPr>
        <p:spPr>
          <a:xfrm>
            <a:off x="781050" y="3524250"/>
            <a:ext cx="10287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E5EB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the inputs move toward the target while the outputs settle near one value.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A"/>
          </a:solidFill>
          <a:ln w="12700">
            <a:solidFill>
              <a:srgbClr val="0C121A">
                <a:alpha val="0"/>
              </a:srgbClr>
            </a:solidFill>
            <a:prstDash val="solid"/>
          </a:ln>
        </p:spPr>
      </p:sp>
      <p:sp>
        <p:nvSpPr>
          <p:cNvPr id="3" name="lesson-slide-index"/>
          <p:cNvSpPr/>
          <p:nvPr/>
        </p:nvSpPr>
        <p:spPr>
          <a:xfrm>
            <a:off x="11239500" y="285750"/>
            <a:ext cx="552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lesson-slide-title"/>
          <p:cNvSpPr/>
          <p:nvPr/>
        </p:nvSpPr>
        <p:spPr>
          <a:xfrm>
            <a:off x="781050" y="533400"/>
            <a:ext cx="10287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linked neighborhoods make approach measurable</a:t>
            </a:r>
            <a:endParaRPr lang="en-US" sz="3900" dirty="0"/>
          </a:p>
        </p:txBody>
      </p:sp>
      <p:sp>
        <p:nvSpPr>
          <p:cNvPr id="5" name="lesson-subheading"/>
          <p:cNvSpPr/>
          <p:nvPr/>
        </p:nvSpPr>
        <p:spPr>
          <a:xfrm>
            <a:off x="781050" y="1885950"/>
            <a:ext cx="10287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35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chosen output tolerance determines how close inputs must be.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38200" y="2886075"/>
            <a:ext cx="114300" cy="114300"/>
          </a:xfrm>
          <a:prstGeom prst="rect">
            <a:avLst/>
          </a:prstGeom>
          <a:solidFill>
            <a:srgbClr val="35C8FF"/>
          </a:solidFill>
          <a:ln w="12700">
            <a:solidFill>
              <a:srgbClr val="35C8FF">
                <a:alpha val="0"/>
              </a:srgbClr>
            </a:solidFill>
            <a:prstDash val="solid"/>
          </a:ln>
        </p:spPr>
      </p:sp>
      <p:sp>
        <p:nvSpPr>
          <p:cNvPr id="7" name="lesson-body"/>
          <p:cNvSpPr/>
          <p:nvPr/>
        </p:nvSpPr>
        <p:spPr>
          <a:xfrm>
            <a:off x="1123950" y="2781300"/>
            <a:ext cx="962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E5EB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band is centered on the proposed limit.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" y="3495675"/>
            <a:ext cx="114300" cy="114300"/>
          </a:xfrm>
          <a:prstGeom prst="rect">
            <a:avLst/>
          </a:prstGeom>
          <a:solidFill>
            <a:srgbClr val="35C8FF"/>
          </a:solidFill>
          <a:ln w="12700">
            <a:solidFill>
              <a:srgbClr val="35C8FF">
                <a:alpha val="0"/>
              </a:srgbClr>
            </a:solidFill>
            <a:prstDash val="solid"/>
          </a:ln>
        </p:spPr>
      </p:sp>
      <p:sp>
        <p:nvSpPr>
          <p:cNvPr id="9" name="lesson-body"/>
          <p:cNvSpPr/>
          <p:nvPr/>
        </p:nvSpPr>
        <p:spPr>
          <a:xfrm>
            <a:off x="1123950" y="3390900"/>
            <a:ext cx="962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E5EB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input band is centered on the target.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" y="4105275"/>
            <a:ext cx="114300" cy="114300"/>
          </a:xfrm>
          <a:prstGeom prst="rect">
            <a:avLst/>
          </a:prstGeom>
          <a:solidFill>
            <a:srgbClr val="35C8FF"/>
          </a:solidFill>
          <a:ln w="12700">
            <a:solidFill>
              <a:srgbClr val="35C8FF">
                <a:alpha val="0"/>
              </a:srgbClr>
            </a:solidFill>
            <a:prstDash val="solid"/>
          </a:ln>
        </p:spPr>
      </p:sp>
      <p:sp>
        <p:nvSpPr>
          <p:cNvPr id="11" name="lesson-body"/>
          <p:cNvSpPr/>
          <p:nvPr/>
        </p:nvSpPr>
        <p:spPr>
          <a:xfrm>
            <a:off x="1123950" y="4000500"/>
            <a:ext cx="962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E5EB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permitted input must land inside the output band.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050" y="4762500"/>
            <a:ext cx="10287000" cy="11049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050" y="4762500"/>
            <a:ext cx="47625" cy="1104900"/>
          </a:xfrm>
          <a:prstGeom prst="rect">
            <a:avLst/>
          </a:prstGeom>
          <a:solidFill>
            <a:srgbClr val="35C8FF"/>
          </a:solidFill>
          <a:ln w="12700">
            <a:solidFill>
              <a:srgbClr val="35C8FF">
                <a:alpha val="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700" y="4895850"/>
            <a:ext cx="97155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A"/>
          </a:solidFill>
          <a:ln w="12700">
            <a:solidFill>
              <a:srgbClr val="0C12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5C8FF"/>
          </a:solidFill>
          <a:ln w="12700">
            <a:solidFill>
              <a:srgbClr val="35C8FF">
                <a:alpha val="0"/>
              </a:srgbClr>
            </a:solidFill>
            <a:prstDash val="solid"/>
          </a:ln>
        </p:spPr>
      </p:sp>
      <p:sp>
        <p:nvSpPr>
          <p:cNvPr id="4" name="lesson-slide-index"/>
          <p:cNvSpPr/>
          <p:nvPr/>
        </p:nvSpPr>
        <p:spPr>
          <a:xfrm>
            <a:off x="11239500" y="285750"/>
            <a:ext cx="552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lesson-slide-title"/>
          <p:cNvSpPr/>
          <p:nvPr/>
        </p:nvSpPr>
        <p:spPr>
          <a:xfrm>
            <a:off x="781050" y="514350"/>
            <a:ext cx="10287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line, the needed input band follows directly</a:t>
            </a:r>
            <a:endParaRPr lang="en-US" sz="3900" dirty="0"/>
          </a:p>
        </p:txBody>
      </p:sp>
      <p:sp>
        <p:nvSpPr>
          <p:cNvPr id="6" name="lesson-subheading"/>
          <p:cNvSpPr/>
          <p:nvPr/>
        </p:nvSpPr>
        <p:spPr>
          <a:xfrm>
            <a:off x="781050" y="1847850"/>
            <a:ext cx="10287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35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f(x)=2x+1 near x=3, choosing delta=epsilon/2 is sufficient.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1050" y="2800350"/>
            <a:ext cx="3314700" cy="1104900"/>
          </a:xfrm>
          <a:prstGeom prst="roundRect">
            <a:avLst/>
          </a:prstGeom>
          <a:solidFill>
            <a:srgbClr val="18202A"/>
          </a:solidFill>
          <a:ln w="12700">
            <a:solidFill>
              <a:srgbClr val="18202A">
                <a:alpha val="0"/>
              </a:srgbClr>
            </a:solidFill>
            <a:prstDash val="solid"/>
          </a:ln>
        </p:spPr>
      </p:sp>
      <p:sp>
        <p:nvSpPr>
          <p:cNvPr id="8" name="lesson-body"/>
          <p:cNvSpPr/>
          <p:nvPr/>
        </p:nvSpPr>
        <p:spPr>
          <a:xfrm>
            <a:off x="952500" y="295275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35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lesson-body"/>
          <p:cNvSpPr/>
          <p:nvPr/>
        </p:nvSpPr>
        <p:spPr>
          <a:xfrm>
            <a:off x="1333500" y="2952750"/>
            <a:ext cx="2590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E5EB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the output error |(2x+1)-7|.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67200" y="2800350"/>
            <a:ext cx="3314700" cy="1104900"/>
          </a:xfrm>
          <a:prstGeom prst="roundRect">
            <a:avLst/>
          </a:prstGeom>
          <a:solidFill>
            <a:srgbClr val="18202A"/>
          </a:solidFill>
          <a:ln w="12700">
            <a:solidFill>
              <a:srgbClr val="18202A">
                <a:alpha val="0"/>
              </a:srgbClr>
            </a:solidFill>
            <a:prstDash val="solid"/>
          </a:ln>
        </p:spPr>
      </p:sp>
      <p:sp>
        <p:nvSpPr>
          <p:cNvPr id="11" name="lesson-body"/>
          <p:cNvSpPr/>
          <p:nvPr/>
        </p:nvSpPr>
        <p:spPr>
          <a:xfrm>
            <a:off x="4438650" y="295275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35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lesson-body"/>
          <p:cNvSpPr/>
          <p:nvPr/>
        </p:nvSpPr>
        <p:spPr>
          <a:xfrm>
            <a:off x="4819650" y="2952750"/>
            <a:ext cx="2590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E5EB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it as 2|x-3|.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53350" y="2800350"/>
            <a:ext cx="3314700" cy="1104900"/>
          </a:xfrm>
          <a:prstGeom prst="roundRect">
            <a:avLst/>
          </a:prstGeom>
          <a:solidFill>
            <a:srgbClr val="18202A"/>
          </a:solidFill>
          <a:ln w="12700">
            <a:solidFill>
              <a:srgbClr val="18202A">
                <a:alpha val="0"/>
              </a:srgbClr>
            </a:solidFill>
            <a:prstDash val="solid"/>
          </a:ln>
        </p:spPr>
      </p:sp>
      <p:sp>
        <p:nvSpPr>
          <p:cNvPr id="14" name="lesson-body"/>
          <p:cNvSpPr/>
          <p:nvPr/>
        </p:nvSpPr>
        <p:spPr>
          <a:xfrm>
            <a:off x="7924800" y="295275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35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lesson-body"/>
          <p:cNvSpPr/>
          <p:nvPr/>
        </p:nvSpPr>
        <p:spPr>
          <a:xfrm>
            <a:off x="8305800" y="2952750"/>
            <a:ext cx="2590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E5EB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|x-3| &lt; epsilon/2.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1050" y="4933950"/>
            <a:ext cx="10287000" cy="11049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050" y="4933950"/>
            <a:ext cx="47625" cy="1104900"/>
          </a:xfrm>
          <a:prstGeom prst="rect">
            <a:avLst/>
          </a:prstGeom>
          <a:solidFill>
            <a:srgbClr val="35C8FF"/>
          </a:solidFill>
          <a:ln w="12700">
            <a:solidFill>
              <a:srgbClr val="35C8FF">
                <a:alpha val="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700" y="5067300"/>
            <a:ext cx="97155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A"/>
          </a:solidFill>
          <a:ln w="12700">
            <a:solidFill>
              <a:srgbClr val="0C12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419100"/>
            <a:ext cx="11049000" cy="5924550"/>
          </a:xfrm>
          <a:prstGeom prst="roundRect">
            <a:avLst/>
          </a:prstGeom>
          <a:solidFill>
            <a:srgbClr val="111923"/>
          </a:solidFill>
          <a:ln w="12700">
            <a:solidFill>
              <a:srgbClr val="111923">
                <a:alpha val="0"/>
              </a:srgbClr>
            </a:solidFill>
            <a:prstDash val="solid"/>
          </a:ln>
        </p:spPr>
      </p:sp>
      <p:sp>
        <p:nvSpPr>
          <p:cNvPr id="4" name="lesson-slide-index"/>
          <p:cNvSpPr/>
          <p:nvPr/>
        </p:nvSpPr>
        <p:spPr>
          <a:xfrm>
            <a:off x="11239500" y="685800"/>
            <a:ext cx="552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lesson-slide-title"/>
          <p:cNvSpPr/>
          <p:nvPr/>
        </p:nvSpPr>
        <p:spPr>
          <a:xfrm>
            <a:off x="971550" y="800100"/>
            <a:ext cx="9906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limit records stable local behavior, not a point value</a:t>
            </a:r>
            <a:endParaRPr lang="en-US" sz="3900" dirty="0"/>
          </a:p>
        </p:txBody>
      </p:sp>
      <p:sp>
        <p:nvSpPr>
          <p:cNvPr id="6" name="lesson-subheading"/>
          <p:cNvSpPr/>
          <p:nvPr/>
        </p:nvSpPr>
        <p:spPr>
          <a:xfrm>
            <a:off x="971550" y="2343150"/>
            <a:ext cx="9810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35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neighborhoods explain approach even when f(a) differs or is absent.</a:t>
            </a:r>
            <a:endParaRPr lang="en-US" sz="2400" dirty="0"/>
          </a:p>
        </p:txBody>
      </p:sp>
      <p:sp>
        <p:nvSpPr>
          <p:cNvPr id="7" name="lesson-body"/>
          <p:cNvSpPr/>
          <p:nvPr/>
        </p:nvSpPr>
        <p:spPr>
          <a:xfrm>
            <a:off x="971550" y="3448050"/>
            <a:ext cx="98107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E5EB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now test a proposed limit by connecting any requested output tolerance to a sufficient input tolerance.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71550" y="5219700"/>
            <a:ext cx="1714500" cy="47625"/>
          </a:xfrm>
          <a:prstGeom prst="rect">
            <a:avLst/>
          </a:prstGeom>
          <a:solidFill>
            <a:srgbClr val="35C8FF"/>
          </a:solidFill>
          <a:ln w="12700">
            <a:solidFill>
              <a:srgbClr val="35C8FF">
                <a:alpha val="0"/>
              </a:srgbClr>
            </a:solidFill>
            <a:prstDash val="solid"/>
          </a:ln>
        </p:spPr>
      </p:sp>
      <p:sp>
        <p:nvSpPr>
          <p:cNvPr id="9" name="lesson-body"/>
          <p:cNvSpPr/>
          <p:nvPr/>
        </p:nvSpPr>
        <p:spPr>
          <a:xfrm>
            <a:off x="971550" y="54292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 resolved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Math150 Coach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Limits describe controlled approach</dc:title>
  <dc:subject>sha256:e897bc7649a66613813d49b6d3756b9a889ba4adc98e1b42ac87fdbc8bad07fe</dc:subject>
  <dc:creator>Math150 Coach</dc:creator>
  <cp:lastModifiedBy>Math150 Coach</cp:lastModifiedBy>
  <cp:revision>1</cp:revision>
  <dcterms:created xsi:type="dcterms:W3CDTF">2026-07-22T08:12:58Z</dcterms:created>
  <dcterms:modified xsi:type="dcterms:W3CDTF">2026-07-22T08:12:58Z</dcterms:modified>
</cp:coreProperties>
</file>